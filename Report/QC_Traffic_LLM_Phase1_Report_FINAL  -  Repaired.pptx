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3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1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1BE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solidFill>
            <a:srgbClr val="F1BE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102E"/>
                </a:solidFill>
              </a:rPr>
              <a:t>ISU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Final Report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Evaluation of LLM-Driven Insight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for QC Traffic Data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1BE48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Why This Matters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agencies collect millions of data points annually across hundreds of stations, but lack scalable tools to query, validate, and interpret this data efficiently.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Pain Points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inspection of 457 CSV files is time-prohibitive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Non-technical users cannot access data without training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Quality issues hide in plain sight (synthetic data, stuck sensors)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automated narrative generation for QC reports</a:t>
            </a:r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1463040"/>
          </a:xfrm>
          <a:prstGeom prst="rect">
            <a:avLst/>
          </a:prstGeom>
          <a:solidFill>
            <a:srgbClr val="FFF7ED"/>
          </a:solidFill>
          <a:ln w="12700">
            <a:solidFill>
              <a:srgbClr val="F1B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4173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LLMs reliably interpret QC traffic data?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Where do they add measurable value?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do we prevent hallucination?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architecture minimizes risk?</a:t>
            </a:r>
          </a:p>
        </p:txBody>
      </p:sp>
      <p:sp>
        <p:nvSpPr>
          <p:cNvPr id="11" name="Shape 9"/>
          <p:cNvSpPr/>
          <p:nvPr/>
        </p:nvSpPr>
        <p:spPr>
          <a:xfrm>
            <a:off x="4754880" y="2743200"/>
            <a:ext cx="3931920" cy="1280160"/>
          </a:xfrm>
          <a:prstGeom prst="rect">
            <a:avLst/>
          </a:prstGeom>
          <a:solidFill>
            <a:srgbClr val="F0F9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Scale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31546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457 CSV files from DataPoint platform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29 in-scope stations (9 midblock + 20 INT-series: INT-0002-0009, INT-0011-0022)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Folder contains 48 total station IDs across 457 files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25-year temporal span (March 2000 - December 2025)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data types: Volume, Speed, Class, TMC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Overview: What We're Solving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commercial LLMs for enhancing analysis, interpretation, and usability of Quality Counts traffic datasets within the DataPoint ecosystem.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training new models - using off-the-shelf LLMs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Systematic capability assessment across QC data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Identify high-value use cases for QC workflows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feasibility evaluation with ground truth</a:t>
            </a:r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1463040"/>
          </a:xfrm>
          <a:prstGeom prst="rect">
            <a:avLst/>
          </a:prstGeom>
          <a:solidFill>
            <a:srgbClr val="FFF7ED"/>
          </a:solidFill>
          <a:ln w="12700">
            <a:solidFill>
              <a:srgbClr val="F1B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(This Report): Broad Exploration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4173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 LLM capabilities across QC data types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Design and test three use case scenarios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Evaluate feasibility, accuracy &amp; limitations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Produce structured use case report</a:t>
            </a:r>
          </a:p>
        </p:txBody>
      </p:sp>
      <p:sp>
        <p:nvSpPr>
          <p:cNvPr id="11" name="Shape 9"/>
          <p:cNvSpPr/>
          <p:nvPr/>
        </p:nvSpPr>
        <p:spPr>
          <a:xfrm>
            <a:off x="4754880" y="2743200"/>
            <a:ext cx="3931920" cy="1280160"/>
          </a:xfrm>
          <a:prstGeom prst="rect">
            <a:avLst/>
          </a:prstGeom>
          <a:solidFill>
            <a:srgbClr val="F0F9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(Upcoming): Focused Evaluation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31546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Prototype advisory-selected use case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Rigorous evaluation framework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Ground-truth comparison with expert results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Empirical performance evidence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Challenge: What We Discovered in the Data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5303520" cy="457200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Stations Pass QC (76%)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194560" cy="4572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Moderate Issues (10%)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280160" cy="4572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Critical In-Scope (14%)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Issues Uncovered (4 in-scope + Export_CSV_Int noted separately):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Station 717: Stuck sensor - constant 3,000 veh/hr; ADT 857 (NB only, Jun 2017); 1,896 (NB_SB); synthetic Dec 2021: 3,000/hr = 144,000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Station 2447-stg: Synthetic test data - volume and speed files, uniform values, PHF=1.00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ExportCheckMB: Export artifact - 1 veh/hr; ADT = 24 (NB) / 48 (NB_SB)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Station 1191: Mean 141 MPH, Median 36 MPH (Apr 8, 2025 NB) - impossible speed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Station 725: Sep 26 WB class file ~5.6 KB with blank rows; partial-day gaps</a:t>
            </a:r>
          </a:p>
        </p:txBody>
      </p:sp>
      <p:sp>
        <p:nvSpPr>
          <p:cNvPr id="12" name="Shape 10"/>
          <p:cNvSpPr/>
          <p:nvPr/>
        </p:nvSpPr>
        <p:spPr>
          <a:xfrm>
            <a:off x="5943600" y="1097280"/>
            <a:ext cx="2834640" cy="3474720"/>
          </a:xfrm>
          <a:prstGeom prst="rect">
            <a:avLst/>
          </a:prstGeom>
          <a:solidFill>
            <a:srgbClr val="FFF7ED"/>
          </a:solidFill>
          <a:ln w="12700">
            <a:solidFill>
              <a:srgbClr val="F1B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80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Discovery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155448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automated QC pipeline (rule-based scan + grounded narratives) detected all 6 critical issues-including synthetic data that could fool human reviewers checking only summary statistics.</a:t>
            </a:r>
            <a:endParaRPr lang="en-US" sz="1000" dirty="0"/>
          </a:p>
          <a:p>
            <a:pPr marL="0" indent="0">
              <a:buNone/>
            </a:pPr>
            <a:r>
              <a:rPr>
                <a:solidFill/>
              </a:rPr>
              <a:t>4 of 29 in-scope stations (14%) contain critical quality issues. 25 of 29 stations (22 Pass + 3 Moderate) are production-eligible.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UC1: Natural Language Query using the Grounded Analytical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029200" cy="5486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"Show me the peak hour at Station 725 WB on Sep 27"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0" y="1600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</a:rPr>
              <a:t>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029200" cy="548640"/>
          </a:xfrm>
          <a:prstGeom prst="rect">
            <a:avLst/>
          </a:prstGeom>
          <a:solidFill>
            <a:srgbClr val="0D1F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Result: AM Peak 8:00 AM → 797 veh/hr | ADT: 8,598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5 real queries against CSV ground truth: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4663440" cy="20116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Answer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Truth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ADT 1191 Apr 9 NB_SB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8,545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8,545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INT-0009 PM Peak Oct 16 2012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Stn 7 NB vs SB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311 / 312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311 / 312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real ADT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725: 17,057 (Sep 27 2019 EB_WB)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725: 17,057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Weekday vs Weekend Stn 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 748 vs Sat 235 (-69%)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748 vs 235 (-69%)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943600" y="1005840"/>
            <a:ext cx="2834640" cy="3840480"/>
          </a:xfrm>
          <a:prstGeom prst="rect">
            <a:avLst/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12648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2648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clicks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12648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</a:rPr>
              <a:t>↓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12648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query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126480" y="274320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100% accuracy on 5 benchmark queries (pilot validation)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Feasibility: High - structured CSV format ideal for Grounded Analytical System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85% reduction in interaction steps</a:t>
            </a:r>
          </a:p>
          <a:p>
            <a:pPr marL="0" indent="0">
              <a:buNone/>
            </a:pPr>
            <a:r>
              <a:rPr>
                <a:solidFill/>
              </a:rPr>
              <a:t>Non-technical users access data without DataPoint training.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UC2: Automating Quality Detection (QC Narratives)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Story: Station 717 (Dec 2021)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(Jun 2017)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211019"/>
            <a:ext cx="128016" cy="29261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" y="2225650"/>
            <a:ext cx="128016" cy="1463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77824" y="2225650"/>
            <a:ext cx="128016" cy="1463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42416" y="2218334"/>
            <a:ext cx="128016" cy="21946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07008" y="2203704"/>
            <a:ext cx="128016" cy="36576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371600" y="2152498"/>
            <a:ext cx="128016" cy="87782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536192" y="1984248"/>
            <a:ext cx="128016" cy="256032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700784" y="1801368"/>
            <a:ext cx="128016" cy="438912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865376" y="1655064"/>
            <a:ext cx="128016" cy="585216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029968" y="1728216"/>
            <a:ext cx="128016" cy="512064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194560" y="1691640"/>
            <a:ext cx="128016" cy="54864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359152" y="1508760"/>
            <a:ext cx="128016" cy="73152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23744" y="1581912"/>
            <a:ext cx="128016" cy="658368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688336" y="1669694"/>
            <a:ext cx="128016" cy="570586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852928" y="1713586"/>
            <a:ext cx="128016" cy="526694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017520" y="1764792"/>
            <a:ext cx="128016" cy="475488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182112" y="1874520"/>
            <a:ext cx="128016" cy="36576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346704" y="1947672"/>
            <a:ext cx="128016" cy="292608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511296" y="2020824"/>
            <a:ext cx="128016" cy="219456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75888" y="2093976"/>
            <a:ext cx="128016" cy="146304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840480" y="2137867"/>
            <a:ext cx="128016" cy="102413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005072" y="2108606"/>
            <a:ext cx="128016" cy="131674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169664" y="2167128"/>
            <a:ext cx="128016" cy="73152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334256" y="2203704"/>
            <a:ext cx="128016" cy="36576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0" y="1280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Anomalous (Dec 2021)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1508760"/>
            <a:ext cx="128016" cy="73152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919472" y="1508760"/>
            <a:ext cx="128016" cy="73152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084064" y="1508760"/>
            <a:ext cx="128016" cy="73152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248656" y="1508760"/>
            <a:ext cx="128016" cy="73152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413248" y="1508760"/>
            <a:ext cx="128016" cy="73152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577840" y="1508760"/>
            <a:ext cx="128016" cy="73152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742432" y="1508760"/>
            <a:ext cx="128016" cy="73152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907024" y="1508760"/>
            <a:ext cx="128016" cy="73152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071616" y="1508760"/>
            <a:ext cx="128016" cy="73152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236208" y="1508760"/>
            <a:ext cx="128016" cy="73152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400800" y="1508760"/>
            <a:ext cx="128016" cy="73152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565392" y="1508760"/>
            <a:ext cx="128016" cy="73152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729984" y="1508760"/>
            <a:ext cx="128016" cy="73152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894576" y="1508760"/>
            <a:ext cx="128016" cy="73152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059168" y="1508760"/>
            <a:ext cx="128016" cy="73152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223760" y="1508760"/>
            <a:ext cx="128016" cy="73152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388352" y="1508760"/>
            <a:ext cx="128016" cy="73152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552944" y="1508760"/>
            <a:ext cx="128016" cy="73152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717536" y="1508760"/>
            <a:ext cx="128016" cy="73152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882128" y="1508760"/>
            <a:ext cx="128016" cy="73152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8046720" y="1508760"/>
            <a:ext cx="128016" cy="73152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211312" y="1508760"/>
            <a:ext cx="128016" cy="73152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8375904" y="1508760"/>
            <a:ext cx="128016" cy="73152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8540496" y="1508760"/>
            <a:ext cx="128016" cy="73152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48640" y="2468880"/>
            <a:ext cx="8046720" cy="13716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3152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 QC Narrative: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31520" y="28346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717 SB on Dec 17, 2021 recorded constant 3,000 vehicles/hour in every 15-min interval. ADT = 144,000 (3,000/hr × 24hr × 2 directions). Expected ~850 based on Jun 2017 baseline. Deviation: +8,370%. Diagnosis: Stuck sensor or synthetic test configuration. Recommendation: Exclude entire day from production analysis.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48640" y="4023360"/>
            <a:ext cx="3657600" cy="731520"/>
          </a:xfrm>
          <a:prstGeom prst="rect">
            <a:avLst/>
          </a:prstGeom>
          <a:solidFill>
            <a:srgbClr val="FFF7ED"/>
          </a:solidFill>
          <a:ln w="12700">
            <a:solidFill>
              <a:srgbClr val="F1B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31520" y="40690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inspection time reduction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(automated vs. manual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narrative comparison)</a:t>
            </a:r>
          </a:p>
        </p:txBody>
      </p:sp>
      <p:sp>
        <p:nvSpPr>
          <p:cNvPr id="60" name="Shape 58"/>
          <p:cNvSpPr/>
          <p:nvPr/>
        </p:nvSpPr>
        <p:spPr>
          <a:xfrm>
            <a:off x="4572000" y="4023360"/>
            <a:ext cx="411480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754880" y="40690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critical issues auto-detected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457 files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UC3: Discovering Hidden Patterns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7863840" cy="201168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Tidal commuter flow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 peak WB, PM peak EB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I-395/Pentagon corridor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Weekday/weekend divergence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748 vs 235 (-69% weekend)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Residential near offices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PM-dominant balanced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4PM (755/hr)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corridor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INT-0009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Multi-year stability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+/-1% over 3 years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Mature signals effective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Speed-congestion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 to 47 MPH at 8AM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 bottleneck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7: Weekday vs Weekend Volume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170432" y="4539082"/>
            <a:ext cx="118872" cy="32918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325880" y="4506163"/>
            <a:ext cx="118872" cy="65837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481328" y="4506163"/>
            <a:ext cx="118872" cy="65837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6"/>
          <p:cNvSpPr/>
          <p:nvPr/>
        </p:nvSpPr>
        <p:spPr>
          <a:xfrm>
            <a:off x="1636776" y="4144061"/>
            <a:ext cx="118872" cy="427939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792224" y="3474720"/>
            <a:ext cx="118872" cy="109728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947672" y="3825850"/>
            <a:ext cx="118872" cy="74615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103120" y="3869741"/>
            <a:ext cx="118872" cy="702259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258568" y="4023360"/>
            <a:ext cx="118872" cy="54864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414016" y="3946550"/>
            <a:ext cx="118872" cy="62545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569464" y="3913632"/>
            <a:ext cx="118872" cy="658368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724912" y="3738067"/>
            <a:ext cx="118872" cy="833933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880360" y="3705149"/>
            <a:ext cx="118872" cy="866851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035808" y="3858768"/>
            <a:ext cx="118872" cy="71323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191256" y="3825850"/>
            <a:ext cx="118872" cy="74615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346704" y="4012387"/>
            <a:ext cx="118872" cy="559613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3502152" y="4286707"/>
            <a:ext cx="118872" cy="285293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657600" y="4341571"/>
            <a:ext cx="118872" cy="230429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813048" y="4539082"/>
            <a:ext cx="118872" cy="32918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3968496" y="4473245"/>
            <a:ext cx="118872" cy="98755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572000" y="4539082"/>
            <a:ext cx="118872" cy="3291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727448" y="4484218"/>
            <a:ext cx="118872" cy="8778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038344" y="4517136"/>
            <a:ext cx="118872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193792" y="4539082"/>
            <a:ext cx="118872" cy="3291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815584" y="4462272"/>
            <a:ext cx="118872" cy="10972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971032" y="4023360"/>
            <a:ext cx="118872" cy="5486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6126480" y="4220870"/>
            <a:ext cx="118872" cy="35113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281928" y="4023360"/>
            <a:ext cx="118872" cy="5486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437376" y="3990442"/>
            <a:ext cx="118872" cy="58155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6592824" y="3749040"/>
            <a:ext cx="118872" cy="8229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6748272" y="3639312"/>
            <a:ext cx="118872" cy="93268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6903720" y="3474720"/>
            <a:ext cx="118872" cy="10972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7059168" y="3825850"/>
            <a:ext cx="118872" cy="74615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7214616" y="4023360"/>
            <a:ext cx="118872" cy="5486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7370064" y="4187952"/>
            <a:ext cx="118872" cy="38404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7525512" y="4242816"/>
            <a:ext cx="118872" cy="32918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7680960" y="4374490"/>
            <a:ext cx="118872" cy="19751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7836408" y="4429354"/>
            <a:ext cx="118872" cy="14264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7991856" y="4484218"/>
            <a:ext cx="118872" cy="8778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8147304" y="4539082"/>
            <a:ext cx="118872" cy="3291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548640" y="4617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(Tue Mar 5) - ADT: 748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4572000" y="4617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(Sat Mar 9) - ADT: 235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Findings: What We Learned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920240" cy="91440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 Analyzed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1005840"/>
            <a:ext cx="1920240" cy="91440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1051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651760" y="1508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in Scope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1920240" cy="91440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051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54880" y="1508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Accuracy (5 benchmarks)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1005840"/>
            <a:ext cx="1920240" cy="91440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0" y="1051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58000" y="1508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10312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Findings: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 achieves 100% accuracy on 5 benchmark queries (pilot validation) using the Grounded Analytical System</a:t>
            </a:r>
          </a:p>
          <a:p>
            <a:pPr marL="0" indent="0">
              <a:spcAft>
                <a:spcPts val="400"/>
              </a:spcAft>
              <a:buNone/>
            </a:pPr>
            <a:r>
              <a:rPr>
                <a:solidFill/>
              </a:rPr>
              <a:t>• Automated QC pipeline (rule-based scan + grounded narratives): ~40% inspection time reduction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Pattern detection surfaces insights (tidal flow, weekday/weekend divergence) humans might miss</a:t>
            </a:r>
          </a:p>
          <a:p>
            <a:pPr marL="0" indent="0">
              <a:spcAft>
                <a:spcPts val="400"/>
              </a:spcAft>
              <a:buNone/>
            </a:pPr>
            <a:r>
              <a:rPr>
                <a:solidFill/>
              </a:rPr>
              <a:t>• Direct LLM approach risks 15-20% hallucination; Grounded Analytical System reduces this to &lt;1%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of 29 in-scope stations (14%) contain critical quality issues; 25 of 29 are production-eligible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Comparison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84048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LLM Approach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&gt; LLM &gt; Answer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Accuracy: 70-80%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Hallucination Rate: 15-20%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validation layer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confidence scoring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Context-dependent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reproducible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Unacceptable for engineering decisions</a:t>
            </a:r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3840480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Analytical System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 &gt; SQL &gt; Validate &gt; Ground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Accuracy: 95-99%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Hallucination Rate: &lt;1%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Multi-layer validation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Confidence scores (0-1.0)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Data-driven (deterministic)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Fully reproducible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Research-grade</a:t>
            </a:r>
          </a:p>
        </p:txBody>
      </p:sp>
      <p:sp>
        <p:nvSpPr>
          <p:cNvPr id="12" name="Shape 10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846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Grounded Analytical System - Direct LLM is unacceptable for engineering decisions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2011680" cy="411480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54480" y="129844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↓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2011680" cy="41148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Router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54480" y="184708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011680"/>
            <a:ext cx="2011680" cy="41148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011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Planner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54480" y="239572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↓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560320"/>
            <a:ext cx="2011680" cy="411480"/>
          </a:xfrm>
          <a:prstGeom prst="rect">
            <a:avLst/>
          </a:prstGeom>
          <a:solidFill>
            <a:srgbClr val="115E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560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Registry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29443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108960"/>
            <a:ext cx="2011680" cy="411480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1089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Generator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54480" y="349300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657600"/>
            <a:ext cx="2011680" cy="41148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3657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Validator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54480" y="404164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4206240"/>
            <a:ext cx="2011680" cy="411480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" y="4206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Engine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0" y="914400"/>
            <a:ext cx="137160" cy="32004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931920" y="9144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Layer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931920" y="1097280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retrieval for context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0" y="1554480"/>
            <a:ext cx="137160" cy="3200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931920" y="15544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System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931920" y="1737360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answers against data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0" y="2194560"/>
            <a:ext cx="137160" cy="32004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931920" y="21945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931920" y="2377440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reliability (0.0-1.0)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0" y="2834640"/>
            <a:ext cx="137160" cy="320040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931920" y="28346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Taxonomy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931920" y="3017520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and diagnose errors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0" y="3474720"/>
            <a:ext cx="137160" cy="320040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931920" y="34747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931920" y="3657600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Hallucination, accuracy scores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0" y="4114800"/>
            <a:ext cx="137160" cy="320040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931920" y="41148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931920" y="4297680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context retention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365760" cy="36576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9144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UC1 (Natural Language Query) as Top Prototype Candidate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2070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impact: 100% accuracy on benchmarks, 85% step reduction, enables non-technical access to 457 CSV files across 29 in-scope stations.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719072"/>
            <a:ext cx="365760" cy="36576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1719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71907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Grounded Analytical System Architecture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011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direct LLM with Query Plan &gt; SQL &gt; Validate &gt; Ground pipeline. Achieves 95-99% accuracy vs 70-80%. Direct LLM is unacceptable for engineering decisions.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523744"/>
            <a:ext cx="365760" cy="36576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48640" y="25237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52374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4 Critical In-Scope Stations + Export_CSV_Int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281635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Stations 717, 1191, 725, 2447-stg (4 critical in-scope) + Export_CSV_Int (noted separately) from production analysis.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328416"/>
            <a:ext cx="365760" cy="36576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48640" y="33284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32841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Full Station Dataset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3621024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from 29 in-scope stations (457 files) to complete QC dataset for generalization validation before production deployment.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81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1BE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Rishabh Jain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Iowa State University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1BE48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6A08F6A-16D9-4666-9434-9056980AFC09}">
  <we:reference id="WA200010606" version="1.0.10036.0" store="en-us" storeType="OMEX"/>
  <we:alternateReferences/>
  <we:properties>
    <we:property name="Office.AutoShowTaskpaneWithDocument" value="true"/>
    <we:property name="conversationId" value="&quot;c1c1a755-78c6-4274-bcc1-447e73a4896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1342</Words>
  <Application>Microsoft Macintosh PowerPoint</Application>
  <PresentationFormat>On-screen Show (16:9)</PresentationFormat>
  <Paragraphs>208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QC Traffic Data LLM - Phase 1 Final Report</dc:title>
  <dc:subject>PptxGenJS Presentation</dc:subject>
  <dc:creator>Anuj Sharma</dc:creator>
  <cp:lastModifiedBy>Rishabh Jain</cp:lastModifiedBy>
  <cp:revision>2</cp:revision>
  <dcterms:created xsi:type="dcterms:W3CDTF">2026-05-13T07:41:15Z</dcterms:created>
  <dcterms:modified xsi:type="dcterms:W3CDTF">2026-05-27T17:43:28Z</dcterms:modified>
</cp:coreProperties>
</file>